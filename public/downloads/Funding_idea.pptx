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3121032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CONCEPT FOR DISCUSSION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3755040"/>
            <a:ext cx="13735050" cy="1741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450" b="1" spc="-18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Funding-Match System for Decarbonization Projects</a:t>
            </a:r>
            <a:endParaRPr lang="en-US" sz="6450" dirty="0"/>
          </a:p>
        </p:txBody>
      </p:sp>
      <p:sp>
        <p:nvSpPr>
          <p:cNvPr id="4" name="Text 2"/>
          <p:cNvSpPr/>
          <p:nvPr/>
        </p:nvSpPr>
        <p:spPr>
          <a:xfrm>
            <a:off x="1066779" y="5839909"/>
            <a:ext cx="11576685" cy="147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system in Microsoft Copilot Studio that scans EU funding opportunities daily, matches them to our projects, and explains every gap.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66779" y="9123696"/>
            <a:ext cx="16154443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779" y="9384889"/>
            <a:ext cx="58844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Studio · Multi-agent orchestration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70443" y="9378086"/>
            <a:ext cx="4481301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 </a:t>
            </a:r>
            <a:pPr algn="l" indent="0" marL="0">
              <a:buNone/>
            </a:pPr>
            <a:r>
              <a:rPr lang="en-US" sz="1950" dirty="0">
                <a:solidFill>
                  <a:srgbClr val="9FB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Note ·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914336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1434065"/>
            <a:ext cx="16089630" cy="1289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our projects to EU funding is manual, slow, and misses ad-hoc calls.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 rot="2700000">
            <a:off x="1066768" y="482552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1390586" y="4692232"/>
            <a:ext cx="796926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open frequently across Horizon Europe, the Innovation Fund, CEF, LIFE and regional co-funding — easy to miss.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 rot="2700000">
            <a:off x="1066768" y="583118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1390586" y="5697885"/>
            <a:ext cx="796926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and innovation rules are detailed, vary by programme, and change between rounds.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 rot="2700000">
            <a:off x="1066768" y="683683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1390586" y="6703538"/>
            <a:ext cx="7969264" cy="81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Hand-matching doesn't scale across a growing portfolio of decarbonization projects.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27793" y="4510980"/>
            <a:ext cx="7293429" cy="1204020"/>
          </a:xfrm>
          <a:prstGeom prst="roundRect">
            <a:avLst>
              <a:gd name="adj" fmla="val 3164"/>
            </a:avLst>
          </a:prstGeom>
          <a:solidFill>
            <a:srgbClr val="FBFAF6"/>
          </a:solidFill>
          <a:ln w="6804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58404" y="4803534"/>
            <a:ext cx="683117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spc="312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258404" y="5150304"/>
            <a:ext cx="1879359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scanning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4871" y="5150304"/>
            <a:ext cx="125632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77611" y="5150304"/>
            <a:ext cx="2042007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sources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476724" y="5150304"/>
            <a:ext cx="125632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59465" y="5150304"/>
            <a:ext cx="2175314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ad-hoc calls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27793" y="6081649"/>
            <a:ext cx="3332474" cy="9525"/>
          </a:xfrm>
          <a:prstGeom prst="rect">
            <a:avLst/>
          </a:prstGeom>
          <a:solidFill>
            <a:srgbClr val="DEDAD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2603" y="5924529"/>
            <a:ext cx="323807" cy="32380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3888748" y="6081649"/>
            <a:ext cx="3332474" cy="9525"/>
          </a:xfrm>
          <a:prstGeom prst="rect">
            <a:avLst/>
          </a:prstGeom>
          <a:solidFill>
            <a:srgbClr val="DEDAD0"/>
          </a:solidFill>
          <a:ln/>
        </p:spPr>
      </p:sp>
      <p:sp>
        <p:nvSpPr>
          <p:cNvPr id="20" name="Shape 17"/>
          <p:cNvSpPr/>
          <p:nvPr/>
        </p:nvSpPr>
        <p:spPr>
          <a:xfrm>
            <a:off x="9927793" y="6457865"/>
            <a:ext cx="7293429" cy="1204020"/>
          </a:xfrm>
          <a:prstGeom prst="roundRect">
            <a:avLst>
              <a:gd name="adj" fmla="val 3164"/>
            </a:avLst>
          </a:prstGeom>
          <a:solidFill>
            <a:srgbClr val="1F3A5F"/>
          </a:solidFill>
          <a:ln w="6804">
            <a:solidFill>
              <a:srgbClr val="1F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58404" y="6750419"/>
            <a:ext cx="6831173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spc="312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SYSTEM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0258404" y="7097188"/>
            <a:ext cx="1157862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scan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73373" y="7097188"/>
            <a:ext cx="125632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656113" y="7097188"/>
            <a:ext cx="1820997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matches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534217" y="7097188"/>
            <a:ext cx="125632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3716957" y="7097188"/>
            <a:ext cx="2001398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next actions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66779" y="9617593"/>
            <a:ext cx="382786" cy="269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FC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5510654" y="9690412"/>
            <a:ext cx="85682" cy="85682"/>
          </a:xfrm>
          <a:prstGeom prst="ellipse">
            <a:avLst/>
          </a:prstGeom>
          <a:solidFill>
            <a:srgbClr val="9A6606"/>
          </a:solidFill>
          <a:ln/>
        </p:spPr>
      </p:sp>
      <p:sp>
        <p:nvSpPr>
          <p:cNvPr id="29" name="Text 26"/>
          <p:cNvSpPr/>
          <p:nvPr/>
        </p:nvSpPr>
        <p:spPr>
          <a:xfrm>
            <a:off x="15710617" y="9617593"/>
            <a:ext cx="1586805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914336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1434065"/>
            <a:ext cx="16639076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jobs, run every day.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66779" y="4213218"/>
            <a:ext cx="2956577" cy="2721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1066779" y="4373740"/>
            <a:ext cx="3045274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779" y="4860939"/>
            <a:ext cx="552365" cy="552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779" y="5622833"/>
            <a:ext cx="3045274" cy="36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b="1" spc="-22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 registry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66779" y="6158083"/>
            <a:ext cx="3045274" cy="1385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projects — tech, TRL, CapEx, emissions impact, stage — kept current.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4366192" y="4213218"/>
            <a:ext cx="2956577" cy="2721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7"/>
          <p:cNvSpPr/>
          <p:nvPr/>
        </p:nvSpPr>
        <p:spPr>
          <a:xfrm>
            <a:off x="4366192" y="4373740"/>
            <a:ext cx="3045274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192" y="4860939"/>
            <a:ext cx="552365" cy="5523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6192" y="5622833"/>
            <a:ext cx="3045274" cy="68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b="1" spc="-22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funding discovery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4366192" y="6483804"/>
            <a:ext cx="3045274" cy="104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approved EU programmes plus ad-hoc calls, on a schedule.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7665605" y="4213288"/>
            <a:ext cx="2956683" cy="2721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7665605" y="4373810"/>
            <a:ext cx="3045384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605" y="4861010"/>
            <a:ext cx="552365" cy="5523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65605" y="5622904"/>
            <a:ext cx="3045384" cy="36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b="1" spc="-22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&amp; score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7665605" y="6158153"/>
            <a:ext cx="3045384" cy="104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and a confidence level for each project against each programme.</a:t>
            </a:r>
            <a:endParaRPr lang="en-US" sz="1950" dirty="0"/>
          </a:p>
        </p:txBody>
      </p:sp>
      <p:sp>
        <p:nvSpPr>
          <p:cNvPr id="19" name="Shape 14"/>
          <p:cNvSpPr/>
          <p:nvPr/>
        </p:nvSpPr>
        <p:spPr>
          <a:xfrm>
            <a:off x="10965125" y="4213759"/>
            <a:ext cx="2956577" cy="2721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0" name="Text 15"/>
          <p:cNvSpPr/>
          <p:nvPr/>
        </p:nvSpPr>
        <p:spPr>
          <a:xfrm>
            <a:off x="10965125" y="4374280"/>
            <a:ext cx="3045274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125" y="4861480"/>
            <a:ext cx="552365" cy="5523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65125" y="5623374"/>
            <a:ext cx="3045274" cy="36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b="1" spc="-22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verdict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0965125" y="6158624"/>
            <a:ext cx="3045274" cy="104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qualifies — or exactly what to change to qualify.</a:t>
            </a:r>
            <a:endParaRPr lang="en-US" sz="1950" dirty="0"/>
          </a:p>
        </p:txBody>
      </p:sp>
      <p:sp>
        <p:nvSpPr>
          <p:cNvPr id="24" name="Shape 18"/>
          <p:cNvSpPr/>
          <p:nvPr/>
        </p:nvSpPr>
        <p:spPr>
          <a:xfrm>
            <a:off x="14264539" y="4215276"/>
            <a:ext cx="2956683" cy="2721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5" name="Text 19"/>
          <p:cNvSpPr/>
          <p:nvPr/>
        </p:nvSpPr>
        <p:spPr>
          <a:xfrm>
            <a:off x="14264539" y="4375797"/>
            <a:ext cx="3045384" cy="29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539" y="4862997"/>
            <a:ext cx="552365" cy="5523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264539" y="5624890"/>
            <a:ext cx="3045384" cy="36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b="1" spc="-22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reporting</a:t>
            </a:r>
            <a:endParaRPr lang="en-US" sz="2250" dirty="0"/>
          </a:p>
        </p:txBody>
      </p:sp>
      <p:sp>
        <p:nvSpPr>
          <p:cNvPr id="28" name="Text 21"/>
          <p:cNvSpPr/>
          <p:nvPr/>
        </p:nvSpPr>
        <p:spPr>
          <a:xfrm>
            <a:off x="14264539" y="6160140"/>
            <a:ext cx="3045384" cy="1048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Project-by-project status, with deadlines flagged and CapEx kept current.</a:t>
            </a:r>
            <a:endParaRPr lang="en-US" sz="1950" dirty="0"/>
          </a:p>
        </p:txBody>
      </p:sp>
      <p:sp>
        <p:nvSpPr>
          <p:cNvPr id="29" name="Text 22"/>
          <p:cNvSpPr/>
          <p:nvPr/>
        </p:nvSpPr>
        <p:spPr>
          <a:xfrm>
            <a:off x="1066779" y="9617593"/>
            <a:ext cx="388526" cy="269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FC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15510654" y="9690412"/>
            <a:ext cx="85682" cy="85682"/>
          </a:xfrm>
          <a:prstGeom prst="ellipse">
            <a:avLst/>
          </a:prstGeom>
          <a:solidFill>
            <a:srgbClr val="9A6606"/>
          </a:solidFill>
          <a:ln/>
        </p:spPr>
      </p:sp>
      <p:sp>
        <p:nvSpPr>
          <p:cNvPr id="31" name="Text 24"/>
          <p:cNvSpPr/>
          <p:nvPr/>
        </p:nvSpPr>
        <p:spPr>
          <a:xfrm>
            <a:off x="15710617" y="9617593"/>
            <a:ext cx="1586805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914336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1434065"/>
            <a:ext cx="16639076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orchestrator directs five specialist agents.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66779" y="3323757"/>
            <a:ext cx="26291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36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066779" y="3923747"/>
            <a:ext cx="2552615" cy="1155757"/>
          </a:xfrm>
          <a:prstGeom prst="roundRect">
            <a:avLst>
              <a:gd name="adj" fmla="val 4121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886" y="4115842"/>
            <a:ext cx="247586" cy="247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32751" y="4108719"/>
            <a:ext cx="15018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trigger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270886" y="4418282"/>
            <a:ext cx="222060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scan, no user present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66779" y="5270004"/>
            <a:ext cx="2552615" cy="1155757"/>
          </a:xfrm>
          <a:prstGeom prst="roundRect">
            <a:avLst>
              <a:gd name="adj" fmla="val 4121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86" y="5462099"/>
            <a:ext cx="247586" cy="247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32751" y="5454976"/>
            <a:ext cx="13196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list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270886" y="5764539"/>
            <a:ext cx="222060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/ Excel / Dataverse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394" y="4750913"/>
            <a:ext cx="533336" cy="24758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152730" y="2858882"/>
            <a:ext cx="9639598" cy="1138216"/>
          </a:xfrm>
          <a:prstGeom prst="roundRect">
            <a:avLst>
              <a:gd name="adj" fmla="val 5021"/>
            </a:avLst>
          </a:prstGeom>
          <a:solidFill>
            <a:srgbClr val="1F3A5F"/>
          </a:solidFill>
          <a:ln/>
        </p:spPr>
      </p:sp>
      <p:sp>
        <p:nvSpPr>
          <p:cNvPr id="15" name="Text 10"/>
          <p:cNvSpPr/>
          <p:nvPr/>
        </p:nvSpPr>
        <p:spPr>
          <a:xfrm>
            <a:off x="4419345" y="3049382"/>
            <a:ext cx="6957530" cy="33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4419345" y="3371170"/>
            <a:ext cx="695753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9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Sequences agents · de-duplicates against memory · assembles the report · raises deadline alerts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1364728" y="3242221"/>
            <a:ext cx="2160984" cy="371432"/>
          </a:xfrm>
          <a:prstGeom prst="roundRect">
            <a:avLst>
              <a:gd name="adj" fmla="val 50000"/>
            </a:avLst>
          </a:prstGeom>
          <a:ln w="6804">
            <a:solidFill>
              <a:srgbClr val="E8B85B">
                <a:alpha val="5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523932" y="3315699"/>
            <a:ext cx="1918777" cy="2625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71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</a:t>
            </a:r>
            <a:endParaRPr lang="en-US" sz="1425" dirty="0"/>
          </a:p>
        </p:txBody>
      </p:sp>
      <p:sp>
        <p:nvSpPr>
          <p:cNvPr id="19" name="Shape 14"/>
          <p:cNvSpPr/>
          <p:nvPr/>
        </p:nvSpPr>
        <p:spPr>
          <a:xfrm>
            <a:off x="4152730" y="4244685"/>
            <a:ext cx="1806029" cy="1870344"/>
          </a:xfrm>
          <a:prstGeom prst="roundRect">
            <a:avLst>
              <a:gd name="adj" fmla="val 2637"/>
            </a:avLst>
          </a:prstGeom>
          <a:solidFill>
            <a:srgbClr val="F5ECDA"/>
          </a:solidFill>
          <a:ln w="13607">
            <a:solidFill>
              <a:srgbClr val="D9B9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299645" y="4410628"/>
            <a:ext cx="1429601" cy="247480"/>
          </a:xfrm>
          <a:prstGeom prst="roundRect">
            <a:avLst>
              <a:gd name="adj" fmla="val 11546"/>
            </a:avLst>
          </a:prstGeom>
          <a:solidFill>
            <a:srgbClr val="9A6606"/>
          </a:solidFill>
          <a:ln/>
        </p:spPr>
      </p:sp>
      <p:sp>
        <p:nvSpPr>
          <p:cNvPr id="21" name="Text 16"/>
          <p:cNvSpPr/>
          <p:nvPr/>
        </p:nvSpPr>
        <p:spPr>
          <a:xfrm>
            <a:off x="4385370" y="4439203"/>
            <a:ext cx="1334351" cy="22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299645" y="4734223"/>
            <a:ext cx="1588400" cy="528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5" b="1" spc="-17" kern="0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Curator</a:t>
            </a:r>
            <a:endParaRPr lang="en-US" sz="1725" dirty="0"/>
          </a:p>
        </p:txBody>
      </p:sp>
      <p:sp>
        <p:nvSpPr>
          <p:cNvPr id="23" name="Text 18"/>
          <p:cNvSpPr/>
          <p:nvPr/>
        </p:nvSpPr>
        <p:spPr>
          <a:xfrm>
            <a:off x="4299645" y="5301046"/>
            <a:ext cx="1588400" cy="686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the trusted-source list; flags stale links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111096" y="4244685"/>
            <a:ext cx="1806029" cy="1870344"/>
          </a:xfrm>
          <a:prstGeom prst="roundRect">
            <a:avLst>
              <a:gd name="adj" fmla="val 2637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58010" y="4410628"/>
            <a:ext cx="1588400" cy="262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25" dirty="0"/>
          </a:p>
        </p:txBody>
      </p:sp>
      <p:sp>
        <p:nvSpPr>
          <p:cNvPr id="26" name="Text 21"/>
          <p:cNvSpPr/>
          <p:nvPr/>
        </p:nvSpPr>
        <p:spPr>
          <a:xfrm>
            <a:off x="6258010" y="4711261"/>
            <a:ext cx="1588400" cy="283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5" b="1" spc="-17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Scout</a:t>
            </a:r>
            <a:endParaRPr lang="en-US" sz="1725" dirty="0"/>
          </a:p>
        </p:txBody>
      </p:sp>
      <p:sp>
        <p:nvSpPr>
          <p:cNvPr id="27" name="Text 22"/>
          <p:cNvSpPr/>
          <p:nvPr/>
        </p:nvSpPr>
        <p:spPr>
          <a:xfrm>
            <a:off x="6258010" y="5301046"/>
            <a:ext cx="1588400" cy="686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search; extracts eligibility &amp; deadlines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8069461" y="4244685"/>
            <a:ext cx="1806029" cy="1870344"/>
          </a:xfrm>
          <a:prstGeom prst="roundRect">
            <a:avLst>
              <a:gd name="adj" fmla="val 2637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16376" y="4410628"/>
            <a:ext cx="1588400" cy="262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25" dirty="0"/>
          </a:p>
        </p:txBody>
      </p:sp>
      <p:sp>
        <p:nvSpPr>
          <p:cNvPr id="30" name="Text 25"/>
          <p:cNvSpPr/>
          <p:nvPr/>
        </p:nvSpPr>
        <p:spPr>
          <a:xfrm>
            <a:off x="8216376" y="4711261"/>
            <a:ext cx="1588400" cy="528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5" b="1" spc="-17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Librarian</a:t>
            </a:r>
            <a:endParaRPr lang="en-US" sz="1725" dirty="0"/>
          </a:p>
        </p:txBody>
      </p:sp>
      <p:sp>
        <p:nvSpPr>
          <p:cNvPr id="31" name="Text 26"/>
          <p:cNvSpPr/>
          <p:nvPr/>
        </p:nvSpPr>
        <p:spPr>
          <a:xfrm>
            <a:off x="8216376" y="5301046"/>
            <a:ext cx="1588400" cy="686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&amp; normalises the project list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10027826" y="4244685"/>
            <a:ext cx="1806029" cy="1870344"/>
          </a:xfrm>
          <a:prstGeom prst="roundRect">
            <a:avLst>
              <a:gd name="adj" fmla="val 2637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174742" y="4410628"/>
            <a:ext cx="1588400" cy="262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25" dirty="0"/>
          </a:p>
        </p:txBody>
      </p:sp>
      <p:sp>
        <p:nvSpPr>
          <p:cNvPr id="34" name="Text 29"/>
          <p:cNvSpPr/>
          <p:nvPr/>
        </p:nvSpPr>
        <p:spPr>
          <a:xfrm>
            <a:off x="10174742" y="4711261"/>
            <a:ext cx="1588400" cy="528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5" b="1" spc="-17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Evaluator</a:t>
            </a:r>
            <a:endParaRPr lang="en-US" sz="1725" dirty="0"/>
          </a:p>
        </p:txBody>
      </p:sp>
      <p:sp>
        <p:nvSpPr>
          <p:cNvPr id="35" name="Text 30"/>
          <p:cNvSpPr/>
          <p:nvPr/>
        </p:nvSpPr>
        <p:spPr>
          <a:xfrm>
            <a:off x="10174742" y="5301046"/>
            <a:ext cx="1588400" cy="686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novelty &amp; TRL against a rubric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11986193" y="4244685"/>
            <a:ext cx="1806029" cy="1870344"/>
          </a:xfrm>
          <a:prstGeom prst="roundRect">
            <a:avLst>
              <a:gd name="adj" fmla="val 2637"/>
            </a:avLst>
          </a:prstGeom>
          <a:solidFill>
            <a:srgbClr val="FBFAF6"/>
          </a:solidFill>
          <a:ln w="13607">
            <a:solidFill>
              <a:srgbClr val="BFC4C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2133107" y="4410628"/>
            <a:ext cx="1588400" cy="262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57" kern="0" dirty="0">
                <a:solidFill>
                  <a:srgbClr val="9A66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25" dirty="0"/>
          </a:p>
        </p:txBody>
      </p:sp>
      <p:sp>
        <p:nvSpPr>
          <p:cNvPr id="38" name="Text 33"/>
          <p:cNvSpPr/>
          <p:nvPr/>
        </p:nvSpPr>
        <p:spPr>
          <a:xfrm>
            <a:off x="12133107" y="4711261"/>
            <a:ext cx="1588400" cy="528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25" b="1" spc="-17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&amp; Advisor</a:t>
            </a:r>
            <a:endParaRPr lang="en-US" sz="1725" dirty="0"/>
          </a:p>
        </p:txBody>
      </p:sp>
      <p:sp>
        <p:nvSpPr>
          <p:cNvPr id="39" name="Text 34"/>
          <p:cNvSpPr/>
          <p:nvPr/>
        </p:nvSpPr>
        <p:spPr>
          <a:xfrm>
            <a:off x="12133107" y="5517059"/>
            <a:ext cx="1588400" cy="47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fit + writes the "how to qualify"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152730" y="6324558"/>
            <a:ext cx="9639598" cy="565972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13607">
            <a:solidFill>
              <a:srgbClr val="BFC4CB"/>
            </a:solidFill>
            <a:prstDash val="dash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895" y="6474236"/>
            <a:ext cx="266615" cy="266615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813846" y="6471472"/>
            <a:ext cx="1203254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Dataverse</a:t>
            </a:r>
            <a:endParaRPr lang="en-US" sz="1800" dirty="0"/>
          </a:p>
        </p:txBody>
      </p:sp>
      <p:sp>
        <p:nvSpPr>
          <p:cNvPr id="43" name="Text 37"/>
          <p:cNvSpPr/>
          <p:nvPr/>
        </p:nvSpPr>
        <p:spPr>
          <a:xfrm>
            <a:off x="6093236" y="6498686"/>
            <a:ext cx="5001731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 &amp; state — curated sources, history, rubric</a:t>
            </a:r>
            <a:endParaRPr lang="en-US" sz="15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328" y="4750913"/>
            <a:ext cx="533336" cy="24758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4325664" y="2801477"/>
            <a:ext cx="29824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36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75" dirty="0"/>
          </a:p>
        </p:txBody>
      </p:sp>
      <p:sp>
        <p:nvSpPr>
          <p:cNvPr id="46" name="Shape 39"/>
          <p:cNvSpPr/>
          <p:nvPr/>
        </p:nvSpPr>
        <p:spPr>
          <a:xfrm>
            <a:off x="14325664" y="3363303"/>
            <a:ext cx="2895558" cy="1733848"/>
          </a:xfrm>
          <a:prstGeom prst="roundRect">
            <a:avLst>
              <a:gd name="adj" fmla="val 2747"/>
            </a:avLst>
          </a:prstGeom>
          <a:solidFill>
            <a:srgbClr val="E7EDE5"/>
          </a:solidFill>
          <a:ln w="13607">
            <a:solidFill>
              <a:srgbClr val="A4BBA2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4529771" y="3548275"/>
            <a:ext cx="1712799" cy="254283"/>
          </a:xfrm>
          <a:prstGeom prst="roundRect">
            <a:avLst>
              <a:gd name="adj" fmla="val 11237"/>
            </a:avLst>
          </a:prstGeom>
          <a:solidFill>
            <a:srgbClr val="4F6F51"/>
          </a:solidFill>
          <a:ln/>
        </p:spPr>
      </p:sp>
      <p:sp>
        <p:nvSpPr>
          <p:cNvPr id="48" name="Text 41"/>
          <p:cNvSpPr/>
          <p:nvPr/>
        </p:nvSpPr>
        <p:spPr>
          <a:xfrm>
            <a:off x="14615496" y="3576850"/>
            <a:ext cx="1617549" cy="23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275" dirty="0"/>
          </a:p>
        </p:txBody>
      </p:sp>
      <p:sp>
        <p:nvSpPr>
          <p:cNvPr id="49" name="Text 42"/>
          <p:cNvSpPr/>
          <p:nvPr/>
        </p:nvSpPr>
        <p:spPr>
          <a:xfrm>
            <a:off x="14529771" y="3888241"/>
            <a:ext cx="25635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dirty="0">
                <a:solidFill>
                  <a:srgbClr val="4F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sign-off</a:t>
            </a:r>
            <a:endParaRPr lang="en-US" sz="1875" dirty="0"/>
          </a:p>
        </p:txBody>
      </p:sp>
      <p:sp>
        <p:nvSpPr>
          <p:cNvPr id="50" name="Text 43"/>
          <p:cNvSpPr/>
          <p:nvPr/>
        </p:nvSpPr>
        <p:spPr>
          <a:xfrm>
            <a:off x="14529771" y="4197804"/>
            <a:ext cx="256354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confirms before output is final — decision support, not the decision</a:t>
            </a:r>
            <a:endParaRPr lang="en-US" sz="15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7274" y="5316034"/>
            <a:ext cx="152336" cy="114279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14325664" y="5554159"/>
            <a:ext cx="2895558" cy="1393882"/>
          </a:xfrm>
          <a:prstGeom prst="roundRect">
            <a:avLst>
              <a:gd name="adj" fmla="val 3417"/>
            </a:avLst>
          </a:prstGeom>
          <a:solidFill>
            <a:srgbClr val="1F3A5F"/>
          </a:solidFill>
          <a:ln w="13607">
            <a:solidFill>
              <a:srgbClr val="1F3A5F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14529771" y="5739132"/>
            <a:ext cx="25635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report</a:t>
            </a:r>
            <a:endParaRPr lang="en-US" sz="1875" dirty="0"/>
          </a:p>
        </p:txBody>
      </p:sp>
      <p:sp>
        <p:nvSpPr>
          <p:cNvPr id="54" name="Text 46"/>
          <p:cNvSpPr/>
          <p:nvPr/>
        </p:nvSpPr>
        <p:spPr>
          <a:xfrm>
            <a:off x="14529771" y="6048694"/>
            <a:ext cx="256354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Project-by-project status, deadlines &amp; CapEx — on a schedule</a:t>
            </a:r>
            <a:endParaRPr lang="en-US" sz="150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779" y="8616830"/>
            <a:ext cx="171365" cy="133307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409509" y="8564421"/>
            <a:ext cx="1478267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6" kern="0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575" dirty="0"/>
          </a:p>
        </p:txBody>
      </p:sp>
      <p:sp>
        <p:nvSpPr>
          <p:cNvPr id="57" name="Shape 48"/>
          <p:cNvSpPr/>
          <p:nvPr/>
        </p:nvSpPr>
        <p:spPr>
          <a:xfrm>
            <a:off x="2982941" y="8676680"/>
            <a:ext cx="9604942" cy="13607"/>
          </a:xfrm>
          <a:prstGeom prst="rect">
            <a:avLst/>
          </a:prstGeom>
          <a:solidFill>
            <a:srgbClr val="D9B978"/>
          </a:solidFill>
          <a:ln/>
        </p:spPr>
      </p:sp>
      <p:sp>
        <p:nvSpPr>
          <p:cNvPr id="58" name="Text 49"/>
          <p:cNvSpPr/>
          <p:nvPr/>
        </p:nvSpPr>
        <p:spPr>
          <a:xfrm>
            <a:off x="12759248" y="8564421"/>
            <a:ext cx="4595833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6" kern="0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 / lost outcomes improve the shared rubric</a:t>
            </a:r>
            <a:endParaRPr lang="en-US" sz="1575" dirty="0"/>
          </a:p>
        </p:txBody>
      </p:sp>
      <p:sp>
        <p:nvSpPr>
          <p:cNvPr id="59" name="Text 50"/>
          <p:cNvSpPr/>
          <p:nvPr/>
        </p:nvSpPr>
        <p:spPr>
          <a:xfrm>
            <a:off x="1066779" y="9617593"/>
            <a:ext cx="391716" cy="269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FC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60" name="Shape 51"/>
          <p:cNvSpPr/>
          <p:nvPr/>
        </p:nvSpPr>
        <p:spPr>
          <a:xfrm>
            <a:off x="15510654" y="9690412"/>
            <a:ext cx="85682" cy="85682"/>
          </a:xfrm>
          <a:prstGeom prst="ellipse">
            <a:avLst/>
          </a:prstGeom>
          <a:solidFill>
            <a:srgbClr val="9A6606"/>
          </a:solidFill>
          <a:ln/>
        </p:spPr>
      </p:sp>
      <p:sp>
        <p:nvSpPr>
          <p:cNvPr id="61" name="Text 52"/>
          <p:cNvSpPr/>
          <p:nvPr/>
        </p:nvSpPr>
        <p:spPr>
          <a:xfrm>
            <a:off x="15710617" y="9617593"/>
            <a:ext cx="1586805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914336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&amp; LICENSING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1434065"/>
            <a:ext cx="16639076" cy="664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650" b="1" spc="-93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verdict per project — and a known cost to run it.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66779" y="3820524"/>
            <a:ext cx="82653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36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RESULT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066779" y="5565109"/>
            <a:ext cx="8024600" cy="9525"/>
          </a:xfrm>
          <a:prstGeom prst="rect">
            <a:avLst/>
          </a:prstGeom>
          <a:solidFill>
            <a:srgbClr val="DEDAD0"/>
          </a:solidFill>
          <a:ln/>
        </p:spPr>
      </p:sp>
      <p:sp>
        <p:nvSpPr>
          <p:cNvPr id="6" name="Shape 4"/>
          <p:cNvSpPr/>
          <p:nvPr/>
        </p:nvSpPr>
        <p:spPr>
          <a:xfrm>
            <a:off x="1066779" y="4344399"/>
            <a:ext cx="1725875" cy="423097"/>
          </a:xfrm>
          <a:prstGeom prst="roundRect">
            <a:avLst>
              <a:gd name="adj" fmla="val 9005"/>
            </a:avLst>
          </a:prstGeom>
          <a:solidFill>
            <a:srgbClr val="E7EDE5"/>
          </a:solidFill>
          <a:ln w="6804">
            <a:solidFill>
              <a:srgbClr val="A4BB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7882" y="4436928"/>
            <a:ext cx="1483668" cy="276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4F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match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3021211" y="4344399"/>
            <a:ext cx="6252273" cy="34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— proceed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021211" y="4710835"/>
            <a:ext cx="6252273" cy="701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the programme; conditions and deadline noted for the bid.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66779" y="6983122"/>
            <a:ext cx="8024600" cy="9525"/>
          </a:xfrm>
          <a:prstGeom prst="rect">
            <a:avLst/>
          </a:prstGeom>
          <a:solidFill>
            <a:srgbClr val="DEDAD0"/>
          </a:solidFill>
          <a:ln/>
        </p:spPr>
      </p:sp>
      <p:sp>
        <p:nvSpPr>
          <p:cNvPr id="11" name="Shape 9"/>
          <p:cNvSpPr/>
          <p:nvPr/>
        </p:nvSpPr>
        <p:spPr>
          <a:xfrm>
            <a:off x="1066779" y="5762413"/>
            <a:ext cx="1600115" cy="423097"/>
          </a:xfrm>
          <a:prstGeom prst="roundRect">
            <a:avLst>
              <a:gd name="adj" fmla="val 9005"/>
            </a:avLst>
          </a:prstGeom>
          <a:solidFill>
            <a:srgbClr val="F5ECDA"/>
          </a:solidFill>
          <a:ln w="6804">
            <a:solidFill>
              <a:srgbClr val="D9B9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7882" y="5854941"/>
            <a:ext cx="1357908" cy="276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Near-miss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2895451" y="5762413"/>
            <a:ext cx="6381805" cy="34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with changes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895451" y="6128849"/>
            <a:ext cx="6381805" cy="701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what to adjust — TRL, scope or partners — to become eligible.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66779" y="7180426"/>
            <a:ext cx="1600115" cy="423097"/>
          </a:xfrm>
          <a:prstGeom prst="roundRect">
            <a:avLst>
              <a:gd name="adj" fmla="val 9005"/>
            </a:avLst>
          </a:prstGeom>
          <a:solidFill>
            <a:srgbClr val="ECEAE4"/>
          </a:solidFill>
          <a:ln w="6804">
            <a:solidFill>
              <a:srgbClr val="BFC4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7882" y="7272954"/>
            <a:ext cx="1357908" cy="276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63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fit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2895451" y="7180426"/>
            <a:ext cx="6381805" cy="34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Skip, with the reason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895451" y="7546862"/>
            <a:ext cx="6381805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9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doesn't qualify, so effort goes where it counts.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700936" y="3820524"/>
            <a:ext cx="9525" cy="4058224"/>
          </a:xfrm>
          <a:prstGeom prst="rect">
            <a:avLst/>
          </a:prstGeom>
          <a:solidFill>
            <a:srgbClr val="DEDAD0"/>
          </a:solidFill>
          <a:ln/>
        </p:spPr>
      </p:sp>
      <p:sp>
        <p:nvSpPr>
          <p:cNvPr id="20" name="Text 18"/>
          <p:cNvSpPr/>
          <p:nvPr/>
        </p:nvSpPr>
        <p:spPr>
          <a:xfrm>
            <a:off x="10319955" y="3820524"/>
            <a:ext cx="71081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36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LICENSING, IN BRIEF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0319955" y="4363428"/>
            <a:ext cx="361865" cy="361865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1855" y="4363428"/>
            <a:ext cx="438065" cy="399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872320" y="4344399"/>
            <a:ext cx="6539259" cy="675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Studio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agent-building platform, not a user seat count.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319955" y="5210579"/>
            <a:ext cx="361865" cy="361865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1855" y="5210579"/>
            <a:ext cx="438065" cy="399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872320" y="5191551"/>
            <a:ext cx="6539259" cy="675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daily triggers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credits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(~25 per run) and are never bundled.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0319955" y="6057730"/>
            <a:ext cx="361865" cy="361865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1855" y="6057730"/>
            <a:ext cx="438065" cy="399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872320" y="6038701"/>
            <a:ext cx="6539259" cy="675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pilot on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7A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</a:t>
            </a:r>
            <a:pPr algn="l" indent="0" marL="0">
              <a:lnSpc>
                <a:spcPct val="124000"/>
              </a:lnSpc>
              <a:buNone/>
            </a:pPr>
            <a:r>
              <a:rPr lang="en-US" sz="20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move to capacity packs once usage is predictable.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319955" y="6676323"/>
            <a:ext cx="7108195" cy="405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for IT: </a:t>
            </a:r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current tenant licensing, provision Azure + Dataverse, and set a credit-budget cap with a named owner.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6779" y="9617593"/>
            <a:ext cx="390546" cy="269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BFC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510654" y="9690412"/>
            <a:ext cx="85682" cy="85682"/>
          </a:xfrm>
          <a:prstGeom prst="ellipse">
            <a:avLst/>
          </a:prstGeom>
          <a:solidFill>
            <a:srgbClr val="9A6606"/>
          </a:solidFill>
          <a:ln/>
        </p:spPr>
      </p:sp>
      <p:sp>
        <p:nvSpPr>
          <p:cNvPr id="33" name="Text 31"/>
          <p:cNvSpPr/>
          <p:nvPr/>
        </p:nvSpPr>
        <p:spPr>
          <a:xfrm>
            <a:off x="15710617" y="9617593"/>
            <a:ext cx="1586805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779" y="1977182"/>
            <a:ext cx="16639076" cy="31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66779" y="2535075"/>
            <a:ext cx="12753975" cy="2415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0" b="1" spc="-16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focused 4–6 week pilot — then expand if the matches prove useful.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956790" y="5445621"/>
            <a:ext cx="9525" cy="9525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66779" y="5445621"/>
            <a:ext cx="1432875" cy="57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42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66779" y="6112371"/>
            <a:ext cx="14328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projects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17111" y="5445621"/>
            <a:ext cx="9525" cy="9525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96930" y="5445621"/>
            <a:ext cx="2664451" cy="57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42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96930" y="6112371"/>
            <a:ext cx="26644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EU programmes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157251" y="5445621"/>
            <a:ext cx="2456812" cy="571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42" kern="0" dirty="0">
                <a:solidFill>
                  <a:srgbClr val="E8B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157251" y="6112371"/>
            <a:ext cx="24568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credits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6779" y="6931458"/>
            <a:ext cx="112395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779" y="7224011"/>
            <a:ext cx="11576685" cy="123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Orchestrator, Source Curator, Funding Scout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&amp; Advisor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first. If the explanations earn their keep, add the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Evaluator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C5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scheduled daily runs.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869506" y="9690412"/>
            <a:ext cx="85682" cy="85682"/>
          </a:xfrm>
          <a:prstGeom prst="ellipse">
            <a:avLst/>
          </a:prstGeom>
          <a:solidFill>
            <a:srgbClr val="9A6606"/>
          </a:solidFill>
          <a:ln/>
        </p:spPr>
      </p:sp>
      <p:sp>
        <p:nvSpPr>
          <p:cNvPr id="15" name="Text 13"/>
          <p:cNvSpPr/>
          <p:nvPr/>
        </p:nvSpPr>
        <p:spPr>
          <a:xfrm>
            <a:off x="14069467" y="9617593"/>
            <a:ext cx="3246308" cy="26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9FB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Funding-Match · Concept Note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2026-06-14T09:43:49Z</dcterms:created>
  <dcterms:modified xsi:type="dcterms:W3CDTF">2026-06-14T09:43:49Z</dcterms:modified>
</cp:coreProperties>
</file>